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384048"/>
            <a:ext cx="3398825" cy="949513"/>
          </a:xfrm>
          <a:prstGeom prst="roundRect">
            <a:avLst>
              <a:gd name="adj" fmla="val 57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448788"/>
            <a:ext cx="3215396" cy="8200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4996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9A3D"/>
                </a:solidFill>
              </a:rPr>
              <a:t>LUNIQ INTELIGENCIA FINANCEIRA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3504" y="1892808"/>
            <a:ext cx="7406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4F1ED"/>
                </a:solidFill>
              </a:rPr>
              <a:t>Clareza financeira para decidir antes do caixa apertar.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3730752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4B8AA"/>
                </a:solidFill>
              </a:rPr>
              <a:t>Marca, painel e metodologia comercial para transformar dados financeiros em agenda executiva.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869680" y="694944"/>
            <a:ext cx="0" cy="5440680"/>
          </a:xfrm>
          <a:prstGeom prst="line">
            <a:avLst/>
          </a:prstGeom>
          <a:noFill/>
          <a:ln w="25400">
            <a:solidFill>
              <a:srgbClr val="FF6600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35440" y="969264"/>
            <a:ext cx="2331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4F1ED"/>
                </a:solidFill>
              </a:rPr>
              <a:t>INTELIGENCIA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4F1ED"/>
                </a:solidFill>
              </a:rPr>
              <a:t>FINANCEIRA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253728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8AA"/>
                </a:solidFill>
              </a:rPr>
              <a:t>Painel + diagnostico + rotina + relatorio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235440" y="3063240"/>
            <a:ext cx="1783080" cy="1783080"/>
          </a:xfrm>
          <a:prstGeom prst="arc">
            <a:avLst/>
          </a:prstGeom>
          <a:noFill/>
          <a:ln w="63500">
            <a:solidFill>
              <a:srgbClr val="FF66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46336" y="3383280"/>
            <a:ext cx="1143000" cy="1143000"/>
          </a:xfrm>
          <a:prstGeom prst="arc">
            <a:avLst/>
          </a:prstGeom>
          <a:noFill/>
          <a:ln w="50800">
            <a:solidFill>
              <a:srgbClr val="2F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POSICIONAMENTO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1ED"/>
                </a:solidFill>
              </a:rPr>
              <a:t>A Luniq une consultoria financeira, dados e rotina de gestao.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4B8AA"/>
                </a:solidFill>
              </a:rPr>
              <a:t>O painel nao e apenas um dashboard: ele organiza o que precisa ser visto, explicado e decidido.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3172968"/>
            <a:ext cx="256032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063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1ED"/>
                </a:solidFill>
              </a:rPr>
              <a:t>Caixa e runway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3675888"/>
            <a:ext cx="256032" cy="0"/>
          </a:xfrm>
          <a:prstGeom prst="line">
            <a:avLst/>
          </a:prstGeom>
          <a:noFill/>
          <a:ln w="25400">
            <a:solidFill>
              <a:srgbClr val="2F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566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DRE e margem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" y="4178808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069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Orcamento e desvios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4681728"/>
            <a:ext cx="256032" cy="0"/>
          </a:xfrm>
          <a:prstGeom prst="line">
            <a:avLst/>
          </a:prstGeom>
          <a:noFill/>
          <a:ln w="25400">
            <a:solidFill>
              <a:srgbClr val="FFC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572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Operacao e riscos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PROBLEMA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1ED"/>
                </a:solidFill>
              </a:rPr>
              <a:t>Empresas perdem velocidade quando o financeiro vira retrovisor.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4B8AA"/>
                </a:solidFill>
              </a:rPr>
              <a:t>Dados existem, mas ficam espalhados entre planilhas, sistema, banco e reunioes sem priorizacao.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3172968"/>
            <a:ext cx="256032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063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1ED"/>
                </a:solidFill>
              </a:rPr>
              <a:t>Falta de previsao de liquidez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3675888"/>
            <a:ext cx="256032" cy="0"/>
          </a:xfrm>
          <a:prstGeom prst="line">
            <a:avLst/>
          </a:prstGeom>
          <a:noFill/>
          <a:ln w="25400">
            <a:solidFill>
              <a:srgbClr val="2F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566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Agenda de pagamentos sem hierarquia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" y="4178808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069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Resultado sem leitura operacional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4681728"/>
            <a:ext cx="256032" cy="0"/>
          </a:xfrm>
          <a:prstGeom prst="line">
            <a:avLst/>
          </a:prstGeom>
          <a:noFill/>
          <a:ln w="25400">
            <a:solidFill>
              <a:srgbClr val="FFC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572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Decisoes tomadas tarde demais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SOLUCAO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1ED"/>
                </a:solidFill>
              </a:rPr>
              <a:t>Um painel que converte dado em decisao.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4B8AA"/>
                </a:solidFill>
              </a:rPr>
              <a:t>A Luniq estrutura uma rotina executiva com sinais, diagnosticos e plano de acao.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4944" y="3383280"/>
            <a:ext cx="1143000" cy="585216"/>
          </a:xfrm>
          <a:prstGeom prst="roundRect">
            <a:avLst>
              <a:gd name="adj" fmla="val 9375"/>
            </a:avLst>
          </a:prstGeom>
          <a:solidFill>
            <a:srgbClr val="17191F"/>
          </a:solidFill>
          <a:ln w="12700">
            <a:solidFill>
              <a:srgbClr val="5F5852">
                <a:alpha val="6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" y="359359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D"/>
                </a:solidFill>
              </a:rPr>
              <a:t>Capturar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929384" y="3575304"/>
            <a:ext cx="256032" cy="201168"/>
          </a:xfrm>
          <a:prstGeom prst="chevron">
            <a:avLst/>
          </a:prstGeom>
          <a:solidFill>
            <a:srgbClr val="FF660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67712" y="3383280"/>
            <a:ext cx="1143000" cy="585216"/>
          </a:xfrm>
          <a:prstGeom prst="roundRect">
            <a:avLst>
              <a:gd name="adj" fmla="val 9375"/>
            </a:avLst>
          </a:prstGeom>
          <a:solidFill>
            <a:srgbClr val="20232B"/>
          </a:solidFill>
          <a:ln w="12700">
            <a:solidFill>
              <a:srgbClr val="5F5852">
                <a:alpha val="6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77440" y="359359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D"/>
                </a:solidFill>
              </a:rPr>
              <a:t>Consolidar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502152" y="3575304"/>
            <a:ext cx="256032" cy="201168"/>
          </a:xfrm>
          <a:prstGeom prst="chevron">
            <a:avLst/>
          </a:prstGeom>
          <a:solidFill>
            <a:srgbClr val="FF660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3383280"/>
            <a:ext cx="1143000" cy="585216"/>
          </a:xfrm>
          <a:prstGeom prst="roundRect">
            <a:avLst>
              <a:gd name="adj" fmla="val 9375"/>
            </a:avLst>
          </a:prstGeom>
          <a:solidFill>
            <a:srgbClr val="17191F"/>
          </a:solidFill>
          <a:ln w="12700">
            <a:solidFill>
              <a:srgbClr val="5F5852">
                <a:alpha val="6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50208" y="359359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D"/>
                </a:solidFill>
              </a:rPr>
              <a:t>Diagnosticar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74920" y="3575304"/>
            <a:ext cx="256032" cy="201168"/>
          </a:xfrm>
          <a:prstGeom prst="chevron">
            <a:avLst/>
          </a:prstGeom>
          <a:solidFill>
            <a:srgbClr val="FF660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13248" y="3383280"/>
            <a:ext cx="1143000" cy="585216"/>
          </a:xfrm>
          <a:prstGeom prst="roundRect">
            <a:avLst>
              <a:gd name="adj" fmla="val 9375"/>
            </a:avLst>
          </a:prstGeom>
          <a:solidFill>
            <a:srgbClr val="20232B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22976" y="359359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D"/>
                </a:solidFill>
              </a:rPr>
              <a:t>Decidir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47688" y="3575304"/>
            <a:ext cx="256032" cy="201168"/>
          </a:xfrm>
          <a:prstGeom prst="chevron">
            <a:avLst/>
          </a:prstGeom>
          <a:solidFill>
            <a:srgbClr val="FF6600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986016" y="3383280"/>
            <a:ext cx="1143000" cy="585216"/>
          </a:xfrm>
          <a:prstGeom prst="roundRect">
            <a:avLst>
              <a:gd name="adj" fmla="val 9375"/>
            </a:avLst>
          </a:prstGeom>
          <a:solidFill>
            <a:srgbClr val="17191F"/>
          </a:solidFill>
          <a:ln w="12700">
            <a:solidFill>
              <a:srgbClr val="5F5852">
                <a:alpha val="6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95744" y="3593592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1ED"/>
                </a:solidFill>
              </a:rPr>
              <a:t>Acompanhar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3232" y="4480560"/>
            <a:ext cx="6263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4B8AA"/>
                </a:solidFill>
              </a:rPr>
              <a:t>A entrega comercial da Luniq esta no ritual: toda semana o painel vira pauta, decisao e acompanhamento.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PAINEL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1ED"/>
                </a:solidFill>
              </a:rPr>
              <a:t>A pagina inicial vira a mesa de decisao financeira.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4B8AA"/>
                </a:solidFill>
              </a:rPr>
              <a:t>O executivo comeca pelas prioridades do dia e abre detalhes apenas quando precisa agir.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3172968"/>
            <a:ext cx="256032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063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1ED"/>
                </a:solidFill>
              </a:rPr>
              <a:t>Prioridades financeiras de hoje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3675888"/>
            <a:ext cx="256032" cy="0"/>
          </a:xfrm>
          <a:prstGeom prst="line">
            <a:avLst/>
          </a:prstGeom>
          <a:noFill/>
          <a:ln w="25400">
            <a:solidFill>
              <a:srgbClr val="2F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566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Inteligencia de caixa e liquidez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" y="4178808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069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Diagnostico executivo Luniq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4681728"/>
            <a:ext cx="256032" cy="0"/>
          </a:xfrm>
          <a:prstGeom prst="line">
            <a:avLst/>
          </a:prstGeom>
          <a:noFill/>
          <a:ln w="25400">
            <a:solidFill>
              <a:srgbClr val="FFC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572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Plano de acao financeiro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METODOLOGIA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1114"/>
                </a:solidFill>
              </a:rPr>
              <a:t>O trabalho se organiza em seis frentes conectadas.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03A35"/>
                </a:solidFill>
              </a:rPr>
              <a:t>Cada frente do painel responde uma pergunta de gestao.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28803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A3D"/>
                </a:solidFill>
              </a:rPr>
              <a:t>Executivo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67712" y="2971800"/>
            <a:ext cx="640080" cy="0"/>
          </a:xfrm>
          <a:prstGeom prst="line">
            <a:avLst/>
          </a:prstGeom>
          <a:noFill/>
          <a:ln w="12700">
            <a:solidFill>
              <a:srgbClr val="5F58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63240" y="28620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01114"/>
                </a:solidFill>
              </a:rPr>
              <a:t>O que exige decisao hoje?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685800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A3D"/>
                </a:solidFill>
              </a:rPr>
              <a:t>Liquidez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67712" y="3447288"/>
            <a:ext cx="640080" cy="0"/>
          </a:xfrm>
          <a:prstGeom prst="line">
            <a:avLst/>
          </a:prstGeom>
          <a:noFill/>
          <a:ln w="12700">
            <a:solidFill>
              <a:srgbClr val="5F58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63240" y="3337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01114"/>
                </a:solidFill>
              </a:rPr>
              <a:t>Quanto tempo o caixa sustenta?</a:t>
            </a:r>
            <a:endParaRPr lang="en-US" sz="1180" dirty="0"/>
          </a:p>
        </p:txBody>
      </p:sp>
      <p:sp>
        <p:nvSpPr>
          <p:cNvPr id="18" name="Text 15"/>
          <p:cNvSpPr/>
          <p:nvPr/>
        </p:nvSpPr>
        <p:spPr>
          <a:xfrm>
            <a:off x="685800" y="38313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A3D"/>
                </a:solidFill>
              </a:rPr>
              <a:t>Governanca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67712" y="3922776"/>
            <a:ext cx="640080" cy="0"/>
          </a:xfrm>
          <a:prstGeom prst="line">
            <a:avLst/>
          </a:prstGeom>
          <a:noFill/>
          <a:ln w="12700">
            <a:solidFill>
              <a:srgbClr val="5F58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63240" y="3813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01114"/>
                </a:solidFill>
              </a:rPr>
              <a:t>O que precisa ser pago, fechado ou controlado?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685800" y="43068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A3D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67712" y="4398264"/>
            <a:ext cx="640080" cy="0"/>
          </a:xfrm>
          <a:prstGeom prst="line">
            <a:avLst/>
          </a:prstGeom>
          <a:noFill/>
          <a:ln w="12700">
            <a:solidFill>
              <a:srgbClr val="5F58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63240" y="42885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01114"/>
                </a:solidFill>
              </a:rPr>
              <a:t>O resultado esta melhorando?</a:t>
            </a:r>
            <a:endParaRPr lang="en-US" sz="1180" dirty="0"/>
          </a:p>
        </p:txBody>
      </p:sp>
      <p:sp>
        <p:nvSpPr>
          <p:cNvPr id="24" name="Text 21"/>
          <p:cNvSpPr/>
          <p:nvPr/>
        </p:nvSpPr>
        <p:spPr>
          <a:xfrm>
            <a:off x="685800" y="47823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A3D"/>
                </a:solidFill>
              </a:rPr>
              <a:t>Operacao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267712" y="4873752"/>
            <a:ext cx="640080" cy="0"/>
          </a:xfrm>
          <a:prstGeom prst="line">
            <a:avLst/>
          </a:prstGeom>
          <a:noFill/>
          <a:ln w="12700">
            <a:solidFill>
              <a:srgbClr val="5F58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63240" y="476402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01114"/>
                </a:solidFill>
              </a:rPr>
              <a:t>Quais sinais explicam caixa e margem?</a:t>
            </a:r>
            <a:endParaRPr lang="en-US" sz="1180" dirty="0"/>
          </a:p>
        </p:txBody>
      </p:sp>
      <p:sp>
        <p:nvSpPr>
          <p:cNvPr id="27" name="Text 24"/>
          <p:cNvSpPr/>
          <p:nvPr/>
        </p:nvSpPr>
        <p:spPr>
          <a:xfrm>
            <a:off x="685800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A3D"/>
                </a:solidFill>
              </a:rPr>
              <a:t>Relatorios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267712" y="5349240"/>
            <a:ext cx="640080" cy="0"/>
          </a:xfrm>
          <a:prstGeom prst="line">
            <a:avLst/>
          </a:prstGeom>
          <a:noFill/>
          <a:ln w="12700">
            <a:solidFill>
              <a:srgbClr val="5F585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63240" y="5239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01114"/>
                </a:solidFill>
              </a:rPr>
              <a:t>Como comunicar decisao e progresso?</a:t>
            </a:r>
            <a:endParaRPr lang="en-US" sz="118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COMERCIAL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1ED"/>
                </a:solidFill>
              </a:rPr>
              <a:t>Pitch: inteligencia financeira como sistema operacional do negocio.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4B8AA"/>
                </a:solidFill>
              </a:rPr>
              <a:t>A oferta combina painel, diagnostico, ritual de gestao e relatorio executivo.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8368" y="3172968"/>
            <a:ext cx="256032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063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1ED"/>
                </a:solidFill>
              </a:rPr>
              <a:t>Implantacao do painel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8368" y="3675888"/>
            <a:ext cx="256032" cy="0"/>
          </a:xfrm>
          <a:prstGeom prst="line">
            <a:avLst/>
          </a:prstGeom>
          <a:noFill/>
          <a:ln w="25400">
            <a:solidFill>
              <a:srgbClr val="2F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566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Diagnostico financeiro inicial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58368" y="4178808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4069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Rotina semanal e mensal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4681728"/>
            <a:ext cx="256032" cy="0"/>
          </a:xfrm>
          <a:prstGeom prst="line">
            <a:avLst/>
          </a:prstGeom>
          <a:noFill/>
          <a:ln w="25400">
            <a:solidFill>
              <a:srgbClr val="FFC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572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Relatorio para decisores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3236976" cy="6858000"/>
          </a:xfrm>
          <a:prstGeom prst="rect">
            <a:avLst/>
          </a:prstGeom>
          <a:solidFill>
            <a:srgbClr val="17191F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199632"/>
            <a:ext cx="1920240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384048"/>
            <a:ext cx="1843430" cy="514990"/>
          </a:xfrm>
          <a:prstGeom prst="roundRect">
            <a:avLst>
              <a:gd name="adj" fmla="val 106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ublic/brand/luniq-inteligencia-financei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6537" y="419161"/>
            <a:ext cx="1743944" cy="4447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30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9A3D"/>
                </a:solidFill>
              </a:rPr>
              <a:t>PROXIMO PASSO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48640" y="896112"/>
            <a:ext cx="7178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1ED"/>
                </a:solidFill>
              </a:rPr>
              <a:t>Implantar a Luniq como rotina de decisao.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66928" y="2084832"/>
            <a:ext cx="672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C4B8AA"/>
                </a:solidFill>
              </a:rPr>
              <a:t>A marca passa a assinar uma entrega clara: menos improviso financeiro, mais previsibilidade e acao.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00032" y="932688"/>
            <a:ext cx="1325880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63456" y="12618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FINANCEIRO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COMO ROTINA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4F1ED"/>
                </a:solidFill>
              </a:rPr>
              <a:t>DE DECISAO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3232" y="3172968"/>
            <a:ext cx="256032" cy="0"/>
          </a:xfrm>
          <a:prstGeom prst="line">
            <a:avLst/>
          </a:prstGeom>
          <a:noFill/>
          <a:ln w="25400">
            <a:solidFill>
              <a:srgbClr val="FF6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33856" y="30632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4F1ED"/>
                </a:solidFill>
              </a:rPr>
              <a:t>Identidade aplicada ao painel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3232" y="3675888"/>
            <a:ext cx="256032" cy="0"/>
          </a:xfrm>
          <a:prstGeom prst="line">
            <a:avLst/>
          </a:prstGeom>
          <a:noFill/>
          <a:ln w="25400">
            <a:solidFill>
              <a:srgbClr val="2FB7C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35661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Material comercial pronto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" y="4178808"/>
            <a:ext cx="256032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40690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Metodologia documentada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13232" y="4681728"/>
            <a:ext cx="256032" cy="0"/>
          </a:xfrm>
          <a:prstGeom prst="line">
            <a:avLst/>
          </a:prstGeom>
          <a:noFill/>
          <a:ln w="25400">
            <a:solidFill>
              <a:srgbClr val="FFC2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3856" y="4572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1ED"/>
                </a:solidFill>
              </a:rPr>
              <a:t>Base para vender e operar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F5852"/>
                </a:solidFill>
              </a:rPr>
              <a:t>Luniq Inteligencia Financeira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28832" y="64190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5852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Luniq Inteligencia Financeira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Luniq Inteligencia Financeira</dc:title>
  <dc:subject>Apresentacao da marca e pitch comercial</dc:subject>
  <dc:creator>Luniq Inteligencia Financeira</dc:creator>
  <cp:lastModifiedBy>Luniq Inteligencia Financeira</cp:lastModifiedBy>
  <cp:revision>1</cp:revision>
  <dcterms:created xsi:type="dcterms:W3CDTF">2026-04-27T19:24:26Z</dcterms:created>
  <dcterms:modified xsi:type="dcterms:W3CDTF">2026-04-27T19:24:26Z</dcterms:modified>
</cp:coreProperties>
</file>